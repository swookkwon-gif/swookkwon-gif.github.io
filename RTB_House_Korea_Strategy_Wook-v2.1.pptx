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6858000" cx="12191675"/>
  <p:notesSz cx="6858000" cy="9144000"/>
  <p:embeddedFontLst>
    <p:embeddedFont>
      <p:font typeface="Amatic SC"/>
      <p:regular r:id="rId20"/>
      <p:bold r:id="rId21"/>
    </p:embeddedFont>
    <p:embeddedFont>
      <p:font typeface="Source Code Pr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6AE665-1A58-4DFC-AA83-F0405B92F36B}">
  <a:tblStyle styleId="{3D6AE665-1A58-4DFC-AA83-F0405B92F3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maticSC-regular.fntdata"/><Relationship Id="rId22" Type="http://schemas.openxmlformats.org/officeDocument/2006/relationships/font" Target="fonts/SourceCodePro-regular.fntdata"/><Relationship Id="rId21" Type="http://schemas.openxmlformats.org/officeDocument/2006/relationships/font" Target="fonts/AmaticSC-bold.fntdata"/><Relationship Id="rId24" Type="http://schemas.openxmlformats.org/officeDocument/2006/relationships/font" Target="fonts/SourceCodePro-italic.fntdata"/><Relationship Id="rId23" Type="http://schemas.openxmlformats.org/officeDocument/2006/relationships/font" Target="fonts/SourceCodePr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font" Target="fonts/SourceCodePr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9541d316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9541d31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9541d316b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e9541d316b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9541d2f93_8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9541d2f93_8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9541d2f93_8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9541d2f93_8_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9541d2f93_8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9541d2f93_8_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9541d2f93_8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9541d2f93_8_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9541d2f93_8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9541d2f93_8_1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9541d316b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9541d316b_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9541d316b_6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9541d316b_6_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9541d316b_6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9541d316b_6_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9541d316b_6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e9541d316b_6_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9541d316b_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e9541d316b_6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17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15589" y="522867"/>
            <a:ext cx="11360400" cy="3587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15589" y="5187200"/>
            <a:ext cx="11360400" cy="941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736900" y="1070000"/>
            <a:ext cx="4717800" cy="47181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15589" y="390467"/>
            <a:ext cx="11360400" cy="106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15589" y="1638233"/>
            <a:ext cx="11360400" cy="44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15589" y="390467"/>
            <a:ext cx="11360400" cy="106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15589" y="1638233"/>
            <a:ext cx="5333100" cy="44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6443028" y="1638233"/>
            <a:ext cx="5333100" cy="445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406389" y="412467"/>
            <a:ext cx="11383200" cy="997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15589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15589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653649" y="701800"/>
            <a:ext cx="7491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6095838" y="-33"/>
            <a:ext cx="60957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6706055" y="5994000"/>
            <a:ext cx="6243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353991" y="1441867"/>
            <a:ext cx="5393400" cy="2280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53991" y="3793630"/>
            <a:ext cx="53934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6585824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425989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matic SC"/>
              <a:buNone/>
              <a:defRPr b="1" sz="3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415589" y="1653700"/>
            <a:ext cx="11360400" cy="2642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415589" y="4406167"/>
            <a:ext cx="113604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4" name="Google Shape;104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5" name="Google Shape;10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2" name="Google Shape;1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589" y="390467"/>
            <a:ext cx="113604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Amatic SC"/>
              <a:buNone/>
              <a:defRPr b="1" sz="56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589" y="1638233"/>
            <a:ext cx="113604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Code Pro"/>
              <a:buChar char="●"/>
              <a:defRPr sz="24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○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■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●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○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■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●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○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■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ctrTitle"/>
          </p:nvPr>
        </p:nvSpPr>
        <p:spPr>
          <a:xfrm>
            <a:off x="415589" y="522867"/>
            <a:ext cx="11360400" cy="3587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Korea Growth Plan 2030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415589" y="5187200"/>
            <a:ext cx="11360400" cy="941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RTB House, Wook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/>
        </p:nvSpPr>
        <p:spPr>
          <a:xfrm>
            <a:off x="640080" y="228600"/>
            <a:ext cx="1005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Summary: RTB House Korea 2030</a:t>
            </a:r>
            <a:endParaRPr/>
          </a:p>
        </p:txBody>
      </p:sp>
      <p:sp>
        <p:nvSpPr>
          <p:cNvPr id="138" name="Google Shape;138;p26"/>
          <p:cNvSpPr/>
          <p:nvPr/>
        </p:nvSpPr>
        <p:spPr>
          <a:xfrm>
            <a:off x="640080" y="82296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793313" y="6142475"/>
            <a:ext cx="109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cap="none" strike="noStrike">
                <a:solidFill>
                  <a:srgbClr val="1A1A2E"/>
                </a:solidFill>
              </a:rPr>
              <a:t>Key Assumptions</a:t>
            </a:r>
            <a:endParaRPr b="1" sz="900"/>
          </a:p>
        </p:txBody>
      </p:sp>
      <p:sp>
        <p:nvSpPr>
          <p:cNvPr id="140" name="Google Shape;140;p26"/>
          <p:cNvSpPr txBox="1"/>
          <p:nvPr/>
        </p:nvSpPr>
        <p:spPr>
          <a:xfrm>
            <a:off x="2332127" y="5971050"/>
            <a:ext cx="812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•  2025 baseline: Estimated at 40% of Criteo Korea's DART-disclosed revenue ($88.7M × 40% = $35.5M)</a:t>
            </a:r>
            <a:endParaRPr sz="1300"/>
          </a:p>
        </p:txBody>
      </p:sp>
      <p:sp>
        <p:nvSpPr>
          <p:cNvPr id="141" name="Google Shape;141;p26"/>
          <p:cNvSpPr txBox="1"/>
          <p:nvPr/>
        </p:nvSpPr>
        <p:spPr>
          <a:xfrm>
            <a:off x="2332127" y="6227078"/>
            <a:ext cx="812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•  2030 target: Grow to match Criteo Korea's 2025 revenue level ($88.7M) — reclaiming market #1</a:t>
            </a:r>
            <a:endParaRPr sz="1300"/>
          </a:p>
        </p:txBody>
      </p:sp>
      <p:sp>
        <p:nvSpPr>
          <p:cNvPr id="142" name="Google Shape;142;p26"/>
          <p:cNvSpPr txBox="1"/>
          <p:nvPr/>
        </p:nvSpPr>
        <p:spPr>
          <a:xfrm>
            <a:off x="2332127" y="6483104"/>
            <a:ext cx="812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•  CAGR 2025→2030: ~20%  |  Churn rate: 12% annual (B2B SaaS benchmark)  |  Team: 6 → 12 elite salespeople</a:t>
            </a:r>
            <a:endParaRPr sz="1300"/>
          </a:p>
        </p:txBody>
      </p:sp>
      <p:pic>
        <p:nvPicPr>
          <p:cNvPr id="143" name="Google Shape;143;p26"/>
          <p:cNvPicPr preferRelativeResize="0"/>
          <p:nvPr/>
        </p:nvPicPr>
        <p:blipFill rotWithShape="1">
          <a:blip r:embed="rId3">
            <a:alphaModFix/>
          </a:blip>
          <a:srcRect b="5103" l="3144" r="67635" t="5219"/>
          <a:stretch/>
        </p:blipFill>
        <p:spPr>
          <a:xfrm>
            <a:off x="95076" y="1027051"/>
            <a:ext cx="2786696" cy="4770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tb_chart.png" id="144" name="Google Shape;144;p26"/>
          <p:cNvPicPr preferRelativeResize="0"/>
          <p:nvPr/>
        </p:nvPicPr>
        <p:blipFill rotWithShape="1">
          <a:blip r:embed="rId4">
            <a:alphaModFix/>
          </a:blip>
          <a:srcRect b="0" l="9700" r="2442" t="0"/>
          <a:stretch/>
        </p:blipFill>
        <p:spPr>
          <a:xfrm>
            <a:off x="3203875" y="1417325"/>
            <a:ext cx="8918851" cy="387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1. High-Level Strategy</a:t>
            </a:r>
            <a:endParaRPr/>
          </a:p>
        </p:txBody>
      </p:sp>
      <p:sp>
        <p:nvSpPr>
          <p:cNvPr id="150" name="Google Shape;150;p27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Focus Industries &amp; Rationale</a:t>
            </a:r>
            <a:endParaRPr/>
          </a:p>
        </p:txBody>
      </p:sp>
      <p:sp>
        <p:nvSpPr>
          <p:cNvPr id="151" name="Google Shape;151;p27"/>
          <p:cNvSpPr/>
          <p:nvPr/>
        </p:nvSpPr>
        <p:spPr>
          <a:xfrm>
            <a:off x="640080" y="128016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27"/>
          <p:cNvGraphicFramePr/>
          <p:nvPr/>
        </p:nvGraphicFramePr>
        <p:xfrm>
          <a:off x="64008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{3D6AE665-1A58-4DFC-AA83-F0405B92F36B}</a:tableStyleId>
              </a:tblPr>
              <a:tblGrid>
                <a:gridCol w="457200"/>
                <a:gridCol w="2286000"/>
                <a:gridCol w="1645925"/>
                <a:gridCol w="6492250"/>
              </a:tblGrid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Sector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Budget (</a:t>
                      </a:r>
                      <a:r>
                        <a:rPr lang="en-US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e)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Why Prioritized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2563EB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E-Commerce &amp; Retail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$2.1B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45–50% of Korea's digital ad spend. Deep learning dynamic banner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optimization in mega-catalog (100K+ SKU) environments. #1 Criteo win-back target.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K-Brands Global D2C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$1.4B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Samsung, APR/Medicube, Samyang. Massive budgets shifting to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global cross-border (CBEC) purchase conversions. Fastest revenue growth driver.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3F4F6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Gaming &amp; App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$1.1B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CPI/LTV optimization = survival for publishers. Predictive LTV modeling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proves efficiency vs Moloco &amp; AppLovin in UA campaigns.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Legacy Giants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$1.8B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Hyundai, Telcos, Finance. Branding-focused KPIs. Mid-long term pipeline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via ContextAI (cookieless), Brand Safety, and in-house agency partnerships.</a:t>
                      </a:r>
                      <a:endParaRPr/>
                    </a:p>
                  </a:txBody>
                  <a:tcPr marT="54875" marB="54875" marR="91450" marL="9145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2. Top Prospective Clients</a:t>
            </a:r>
            <a:endParaRPr/>
          </a:p>
        </p:txBody>
      </p:sp>
      <p:sp>
        <p:nvSpPr>
          <p:cNvPr id="158" name="Google Shape;158;p28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Tier 1 Targets (Annual Budget $3.5M+) &amp; Deal Strategy</a:t>
            </a:r>
            <a:endParaRPr/>
          </a:p>
        </p:txBody>
      </p:sp>
      <p:sp>
        <p:nvSpPr>
          <p:cNvPr id="159" name="Google Shape;159;p28"/>
          <p:cNvSpPr/>
          <p:nvPr/>
        </p:nvSpPr>
        <p:spPr>
          <a:xfrm>
            <a:off x="640080" y="128016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0" name="Google Shape;160;p28"/>
          <p:cNvGraphicFramePr/>
          <p:nvPr/>
        </p:nvGraphicFramePr>
        <p:xfrm>
          <a:off x="64008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{3D6AE665-1A58-4DFC-AA83-F0405B92F36B}</a:tableStyleId>
              </a:tblPr>
              <a:tblGrid>
                <a:gridCol w="2011675"/>
                <a:gridCol w="1188725"/>
                <a:gridCol w="1097275"/>
                <a:gridCol w="914400"/>
                <a:gridCol w="5669275"/>
              </a:tblGrid>
              <a:tr h="41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Sector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 Spend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Attack Strategy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Coupang / SSG /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Gmarket / 11st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E-Commerce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$947M+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(10-K)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Criteo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30-day free A/B test. Measure iROAS vs Criteo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 50:50 traffic split in mega-catalog.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Samsung / LG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Electronics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Global Tech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$1B+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(Global)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Multi-DSP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Global D2C retargeting for electronics malls.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 direct traffic → purchase ROAS.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APR / Olive Young /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Amorepacific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K-Beauty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$100M+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Criteo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Global targeting for beauty device NA expansion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 cross-channel purchase induction.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Nexon / Krafton /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Netmarble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Gaming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$100M+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/company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Moloco,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AppLovin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UA for global titles. Prove LTV prediction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superiority via predictive deep learning.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p28"/>
          <p:cNvSpPr txBox="1"/>
          <p:nvPr/>
        </p:nvSpPr>
        <p:spPr>
          <a:xfrm>
            <a:off x="640080" y="4846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3-Step Deal Framework</a:t>
            </a:r>
            <a:endParaRPr/>
          </a:p>
        </p:txBody>
      </p:sp>
      <p:sp>
        <p:nvSpPr>
          <p:cNvPr id="162" name="Google Shape;162;p28"/>
          <p:cNvSpPr txBox="1"/>
          <p:nvPr/>
        </p:nvSpPr>
        <p:spPr>
          <a:xfrm>
            <a:off x="640080" y="53035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① PROVE IT</a:t>
            </a:r>
            <a:endParaRPr/>
          </a:p>
        </p:txBody>
      </p:sp>
      <p:sp>
        <p:nvSpPr>
          <p:cNvPr id="163" name="Google Shape;163;p28"/>
          <p:cNvSpPr txBox="1"/>
          <p:nvPr/>
        </p:nvSpPr>
        <p:spPr>
          <a:xfrm>
            <a:off x="640080" y="57150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30-day free A/B test</a:t>
            </a:r>
            <a:b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50:50 split vs incumbent DSP</a:t>
            </a:r>
            <a:b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Measure Incremental Conversions</a:t>
            </a:r>
            <a:endParaRPr/>
          </a:p>
        </p:txBody>
      </p:sp>
      <p:sp>
        <p:nvSpPr>
          <p:cNvPr id="164" name="Google Shape;164;p28"/>
          <p:cNvSpPr txBox="1"/>
          <p:nvPr/>
        </p:nvSpPr>
        <p:spPr>
          <a:xfrm>
            <a:off x="4389120" y="53035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② SCALE IT</a:t>
            </a:r>
            <a:endParaRPr/>
          </a:p>
        </p:txBody>
      </p:sp>
      <p:sp>
        <p:nvSpPr>
          <p:cNvPr id="165" name="Google Shape;165;p28"/>
          <p:cNvSpPr txBox="1"/>
          <p:nvPr/>
        </p:nvSpPr>
        <p:spPr>
          <a:xfrm>
            <a:off x="4389120" y="57150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On success, migrate budget</a:t>
            </a:r>
            <a:b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30% → 50% → 70% to RTB House</a:t>
            </a:r>
            <a:endParaRPr/>
          </a:p>
        </p:txBody>
      </p:sp>
      <p:sp>
        <p:nvSpPr>
          <p:cNvPr id="166" name="Google Shape;166;p28"/>
          <p:cNvSpPr txBox="1"/>
          <p:nvPr/>
        </p:nvSpPr>
        <p:spPr>
          <a:xfrm>
            <a:off x="8138159" y="53035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③ LOCK IT</a:t>
            </a:r>
            <a:endParaRPr/>
          </a:p>
        </p:txBody>
      </p:sp>
      <p:sp>
        <p:nvSpPr>
          <p:cNvPr id="167" name="Google Shape;167;p28"/>
          <p:cNvSpPr txBox="1"/>
          <p:nvPr/>
        </p:nvSpPr>
        <p:spPr>
          <a:xfrm>
            <a:off x="8138159" y="57150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Quarterly iROAS reporting</a:t>
            </a:r>
            <a:b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via Ghost Ads methodology</a:t>
            </a:r>
            <a:b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Raise Switching Costs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3. Campaign Projections</a:t>
            </a:r>
            <a:endParaRPr/>
          </a:p>
        </p:txBody>
      </p:sp>
      <p:sp>
        <p:nvSpPr>
          <p:cNvPr id="173" name="Google Shape;173;p29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Quarterly Launch Targets (2026–2030)</a:t>
            </a:r>
            <a:endParaRPr/>
          </a:p>
        </p:txBody>
      </p:sp>
      <p:sp>
        <p:nvSpPr>
          <p:cNvPr id="174" name="Google Shape;174;p29"/>
          <p:cNvSpPr/>
          <p:nvPr/>
        </p:nvSpPr>
        <p:spPr>
          <a:xfrm>
            <a:off x="640080" y="128016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29"/>
          <p:cNvGraphicFramePr/>
          <p:nvPr/>
        </p:nvGraphicFramePr>
        <p:xfrm>
          <a:off x="64008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{3D6AE665-1A58-4DFC-AA83-F0405B92F36B}</a:tableStyleId>
              </a:tblPr>
              <a:tblGrid>
                <a:gridCol w="2011675"/>
                <a:gridCol w="822950"/>
                <a:gridCol w="822950"/>
                <a:gridCol w="822950"/>
                <a:gridCol w="822950"/>
                <a:gridCol w="1097275"/>
                <a:gridCol w="1280150"/>
                <a:gridCol w="13716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Year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Q1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Q2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Q4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Annual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Launches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Campaigns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Revenue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 (Foundation)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235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$42.2M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2027 (Scale-up)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308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$55.4M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2028 (Expansion)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372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$66.8M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2029 (Acceleration)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104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431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$78.4M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2030 (Reclaim #1)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116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495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$94.3M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6" name="Google Shape;176;p29"/>
          <p:cNvSpPr txBox="1"/>
          <p:nvPr/>
        </p:nvSpPr>
        <p:spPr>
          <a:xfrm>
            <a:off x="640080" y="5120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Key Assumptions</a:t>
            </a:r>
            <a:endParaRPr/>
          </a:p>
        </p:txBody>
      </p:sp>
      <p:sp>
        <p:nvSpPr>
          <p:cNvPr id="177" name="Google Shape;177;p29"/>
          <p:cNvSpPr txBox="1"/>
          <p:nvPr/>
        </p:nvSpPr>
        <p:spPr>
          <a:xfrm>
            <a:off x="822960" y="55778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•  Blended Revenue per Campaign:  $179K/yr  (90% standard $105K + 10% mega $844K)</a:t>
            </a:r>
            <a:endParaRPr/>
          </a:p>
        </p:txBody>
      </p:sp>
      <p:sp>
        <p:nvSpPr>
          <p:cNvPr id="178" name="Google Shape;178;p29"/>
          <p:cNvSpPr txBox="1"/>
          <p:nvPr/>
        </p:nvSpPr>
        <p:spPr>
          <a:xfrm>
            <a:off x="822960" y="5925312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•  Annual Churn Rate:  12% (B2B SaaS benchmark)</a:t>
            </a:r>
            <a:endParaRPr/>
          </a:p>
        </p:txBody>
      </p:sp>
      <p:sp>
        <p:nvSpPr>
          <p:cNvPr id="179" name="Google Shape;179;p29"/>
          <p:cNvSpPr txBox="1"/>
          <p:nvPr/>
        </p:nvSpPr>
        <p:spPr>
          <a:xfrm>
            <a:off x="822960" y="6272783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•  2030 Target:  </a:t>
            </a: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495</a:t>
            </a: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active campaigns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4. Revenue Metrics</a:t>
            </a:r>
            <a:endParaRPr/>
          </a:p>
        </p:txBody>
      </p:sp>
      <p:sp>
        <p:nvSpPr>
          <p:cNvPr id="185" name="Google Shape;185;p30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Per-Salesperson Projections — Lean Organization Model</a:t>
            </a:r>
            <a:endParaRPr/>
          </a:p>
        </p:txBody>
      </p:sp>
      <p:sp>
        <p:nvSpPr>
          <p:cNvPr id="186" name="Google Shape;186;p30"/>
          <p:cNvSpPr/>
          <p:nvPr/>
        </p:nvSpPr>
        <p:spPr>
          <a:xfrm>
            <a:off x="640080" y="128016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30"/>
          <p:cNvGraphicFramePr/>
          <p:nvPr/>
        </p:nvGraphicFramePr>
        <p:xfrm>
          <a:off x="64008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{3D6AE665-1A58-4DFC-AA83-F0405B92F36B}</a:tableStyleId>
              </a:tblPr>
              <a:tblGrid>
                <a:gridCol w="1318950"/>
                <a:gridCol w="1318950"/>
                <a:gridCol w="1648700"/>
                <a:gridCol w="1648700"/>
                <a:gridCol w="1648700"/>
                <a:gridCol w="1648700"/>
                <a:gridCol w="164870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Year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Headcount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Booking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 Person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Gross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Churn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(12%)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Growth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Revenue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$1.76M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$10.6M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–$4.4M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+$6.2M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$42.6M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2027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$1.79M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$14.3M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–$5.1M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+$9.3M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$51.9M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2028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$1.86M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$18.6M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–$6.2M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+$12.5M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$64.4M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2029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$1.97M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$21.7M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–$7.7M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+$14.0M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$78.4M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2030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$2.11M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$25.3M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–$9.4M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+$16.0M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$94.3M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30"/>
          <p:cNvSpPr txBox="1"/>
          <p:nvPr/>
        </p:nvSpPr>
        <p:spPr>
          <a:xfrm>
            <a:off x="640080" y="4800575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2026 Per-Salesperson Quarterly Detail (6 AEs)</a:t>
            </a:r>
            <a:endParaRPr/>
          </a:p>
        </p:txBody>
      </p:sp>
      <p:graphicFrame>
        <p:nvGraphicFramePr>
          <p:cNvPr id="189" name="Google Shape;189;p30"/>
          <p:cNvGraphicFramePr/>
          <p:nvPr/>
        </p:nvGraphicFramePr>
        <p:xfrm>
          <a:off x="640080" y="52577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{3D6AE665-1A58-4DFC-AA83-F0405B92F36B}</a:tableStyleId>
              </a:tblPr>
              <a:tblGrid>
                <a:gridCol w="2560325"/>
                <a:gridCol w="1920250"/>
                <a:gridCol w="1920250"/>
                <a:gridCol w="1920250"/>
                <a:gridCol w="25603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Q2 (Ramp-up)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Q4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H2 Total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2563EB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Campaigns / Person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3–4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~7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Booking / Person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$774K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$985K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$1.76M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New Launches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New Revenue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$4.6M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$6.0M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$10.6M</a:t>
                      </a:r>
                      <a:endParaRPr/>
                    </a:p>
                  </a:txBody>
                  <a:tcPr marT="54875" marB="54875" marR="91450" marL="91450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5. Operational Activities</a:t>
            </a:r>
            <a:endParaRPr/>
          </a:p>
        </p:txBody>
      </p:sp>
      <p:sp>
        <p:nvSpPr>
          <p:cNvPr id="195" name="Google Shape;195;p31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Building a Successful Foundation Beyond Sales</a:t>
            </a:r>
            <a:endParaRPr/>
          </a:p>
        </p:txBody>
      </p:sp>
      <p:sp>
        <p:nvSpPr>
          <p:cNvPr id="196" name="Google Shape;196;p31"/>
          <p:cNvSpPr/>
          <p:nvPr/>
        </p:nvSpPr>
        <p:spPr>
          <a:xfrm>
            <a:off x="640080" y="128016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1"/>
          <p:cNvSpPr txBox="1"/>
          <p:nvPr/>
        </p:nvSpPr>
        <p:spPr>
          <a:xfrm>
            <a:off x="640080" y="1444752"/>
            <a:ext cx="3337500" cy="292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88BF7"/>
                </a:solidFill>
                <a:latin typeface="Arial"/>
                <a:ea typeface="Arial"/>
                <a:cs typeface="Arial"/>
                <a:sym typeface="Arial"/>
              </a:rPr>
              <a:t>🏢  Lean Team &amp; Employer Branding</a:t>
            </a:r>
            <a:endParaRPr/>
          </a:p>
        </p:txBody>
      </p:sp>
      <p:sp>
        <p:nvSpPr>
          <p:cNvPr id="198" name="Google Shape;198;p31"/>
          <p:cNvSpPr txBox="1"/>
          <p:nvPr/>
        </p:nvSpPr>
        <p:spPr>
          <a:xfrm>
            <a:off x="658375" y="2084823"/>
            <a:ext cx="3291900" cy="1015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Position RTB House as 'Europe's #1 Deep Learning AI Tech Company'</a:t>
            </a:r>
            <a:br>
              <a:rPr b="0" i="0" lang="en-US" sz="1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(not an ad agency). 45% of Warsaw HQ = engineers.</a:t>
            </a:r>
            <a:endParaRPr sz="1900">
              <a:solidFill>
                <a:schemeClr val="accent1"/>
              </a:solidFill>
            </a:endParaRPr>
          </a:p>
        </p:txBody>
      </p:sp>
      <p:sp>
        <p:nvSpPr>
          <p:cNvPr id="199" name="Google Shape;199;p31"/>
          <p:cNvSpPr txBox="1"/>
          <p:nvPr/>
        </p:nvSpPr>
        <p:spPr>
          <a:xfrm>
            <a:off x="658368" y="3685032"/>
            <a:ext cx="3291900" cy="1246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2026: Hire 1 Senior AE (mega-account closer, $70K+/mo deals).</a:t>
            </a:r>
            <a:b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2027–28: +2 AEs + 2 CMs for 25+ launches/quarter pace.</a:t>
            </a:r>
            <a:endParaRPr sz="1900"/>
          </a:p>
        </p:txBody>
      </p:sp>
      <p:sp>
        <p:nvSpPr>
          <p:cNvPr id="200" name="Google Shape;200;p31"/>
          <p:cNvSpPr txBox="1"/>
          <p:nvPr/>
        </p:nvSpPr>
        <p:spPr>
          <a:xfrm>
            <a:off x="658368" y="5285232"/>
            <a:ext cx="3291900" cy="1015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Quarterly 'Deep Learning in AdTech' Tech Talk.</a:t>
            </a:r>
            <a:b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Internship pipeline via Seoul National Univ. / KAIST AI labs.</a:t>
            </a:r>
            <a:endParaRPr sz="1900"/>
          </a:p>
        </p:txBody>
      </p:sp>
      <p:sp>
        <p:nvSpPr>
          <p:cNvPr id="201" name="Google Shape;201;p31"/>
          <p:cNvSpPr txBox="1"/>
          <p:nvPr/>
        </p:nvSpPr>
        <p:spPr>
          <a:xfrm>
            <a:off x="4389119" y="1444752"/>
            <a:ext cx="3337500" cy="292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💡  Innovative Solution Selling</a:t>
            </a:r>
            <a:endParaRPr/>
          </a:p>
        </p:txBody>
      </p:sp>
      <p:sp>
        <p:nvSpPr>
          <p:cNvPr id="202" name="Google Shape;202;p31"/>
          <p:cNvSpPr txBox="1"/>
          <p:nvPr/>
        </p:nvSpPr>
        <p:spPr>
          <a:xfrm>
            <a:off x="4407407" y="2084832"/>
            <a:ext cx="3291900" cy="1246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ContextAI (Cookieless): Real-time webpage context analysis via</a:t>
            </a:r>
            <a:b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DL+NLP. RTB House's OBTD framework adopted by Google Privacy Sandbox.</a:t>
            </a:r>
            <a:endParaRPr sz="1900"/>
          </a:p>
        </p:txBody>
      </p:sp>
      <p:sp>
        <p:nvSpPr>
          <p:cNvPr id="203" name="Google Shape;203;p31"/>
          <p:cNvSpPr txBox="1"/>
          <p:nvPr/>
        </p:nvSpPr>
        <p:spPr>
          <a:xfrm>
            <a:off x="4407407" y="3685032"/>
            <a:ext cx="3291900" cy="1015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Video Retargeting: Auto-generated 15s dynamic video ads.</a:t>
            </a:r>
            <a:b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+30-50% CTR uplift. Key for K-Beauty global D2C campaigns.</a:t>
            </a:r>
            <a:endParaRPr sz="1900"/>
          </a:p>
        </p:txBody>
      </p:sp>
      <p:sp>
        <p:nvSpPr>
          <p:cNvPr id="204" name="Google Shape;204;p31"/>
          <p:cNvSpPr txBox="1"/>
          <p:nvPr/>
        </p:nvSpPr>
        <p:spPr>
          <a:xfrm>
            <a:off x="4407407" y="5285232"/>
            <a:ext cx="3291900" cy="1015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Predictive LTV Modeling (Gaming): 14-day LTV prediction via deep</a:t>
            </a:r>
            <a:b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learning. Concentrate bids on high-value user segments for UA.</a:t>
            </a:r>
            <a:endParaRPr sz="1900"/>
          </a:p>
        </p:txBody>
      </p:sp>
      <p:sp>
        <p:nvSpPr>
          <p:cNvPr id="205" name="Google Shape;205;p31"/>
          <p:cNvSpPr txBox="1"/>
          <p:nvPr/>
        </p:nvSpPr>
        <p:spPr>
          <a:xfrm>
            <a:off x="8138159" y="1444752"/>
            <a:ext cx="3337500" cy="292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📊  Market Education &amp; Client Success</a:t>
            </a:r>
            <a:endParaRPr/>
          </a:p>
        </p:txBody>
      </p:sp>
      <p:sp>
        <p:nvSpPr>
          <p:cNvPr id="206" name="Google Shape;206;p31"/>
          <p:cNvSpPr txBox="1"/>
          <p:nvPr/>
        </p:nvSpPr>
        <p:spPr>
          <a:xfrm>
            <a:off x="8156447" y="2084832"/>
            <a:ext cx="3291900" cy="1015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Publish Incrementality Whitepapers: Shift Korean market from</a:t>
            </a:r>
            <a:b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last-click ROAS fixation to Ghost Ads-based iROAS measurement.</a:t>
            </a:r>
            <a:endParaRPr sz="1900"/>
          </a:p>
        </p:txBody>
      </p:sp>
      <p:sp>
        <p:nvSpPr>
          <p:cNvPr id="207" name="Google Shape;207;p31"/>
          <p:cNvSpPr txBox="1"/>
          <p:nvPr/>
        </p:nvSpPr>
        <p:spPr>
          <a:xfrm>
            <a:off x="8156447" y="3685032"/>
            <a:ext cx="3291900" cy="1015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Institutionalize Quarterly QBRs with iROAS reporting.</a:t>
            </a:r>
            <a:b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Goal: Lower annual churn from 12% → below 10%.</a:t>
            </a:r>
            <a:endParaRPr sz="1900"/>
          </a:p>
        </p:txBody>
      </p:sp>
      <p:sp>
        <p:nvSpPr>
          <p:cNvPr id="208" name="Google Shape;208;p31"/>
          <p:cNvSpPr txBox="1"/>
          <p:nvPr/>
        </p:nvSpPr>
        <p:spPr>
          <a:xfrm>
            <a:off x="8156447" y="5285232"/>
            <a:ext cx="3291900" cy="1015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Bi-annual 'Incrementality Summit Korea' — strategic sales event</a:t>
            </a:r>
            <a:b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latin typeface="Arial"/>
                <a:ea typeface="Arial"/>
                <a:cs typeface="Arial"/>
                <a:sym typeface="Arial"/>
              </a:rPr>
              <a:t>showcasing Tier 1 A/B test results to secure H2 pipeline.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/>
        </p:nvSpPr>
        <p:spPr>
          <a:xfrm>
            <a:off x="640080" y="228600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2E"/>
                </a:solidFill>
              </a:rPr>
              <a:t>6</a:t>
            </a:r>
            <a:r>
              <a:rPr b="1" i="0" lang="en-US" sz="2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. First 6 Months &amp; Onboarding</a:t>
            </a:r>
            <a:endParaRPr/>
          </a:p>
        </p:txBody>
      </p:sp>
      <p:sp>
        <p:nvSpPr>
          <p:cNvPr id="214" name="Google Shape;214;p32"/>
          <p:cNvSpPr txBox="1"/>
          <p:nvPr/>
        </p:nvSpPr>
        <p:spPr>
          <a:xfrm>
            <a:off x="640080" y="777240"/>
            <a:ext cx="1005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Challenge Identification &amp; Risk Mitigation</a:t>
            </a:r>
            <a:endParaRPr/>
          </a:p>
        </p:txBody>
      </p:sp>
      <p:sp>
        <p:nvSpPr>
          <p:cNvPr id="215" name="Google Shape;215;p32"/>
          <p:cNvSpPr/>
          <p:nvPr/>
        </p:nvSpPr>
        <p:spPr>
          <a:xfrm>
            <a:off x="640080" y="1143000"/>
            <a:ext cx="1097400" cy="507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640080" y="1417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Top 3 Risks During Leadership Transition</a:t>
            </a:r>
            <a:endParaRPr/>
          </a:p>
        </p:txBody>
      </p:sp>
      <p:graphicFrame>
        <p:nvGraphicFramePr>
          <p:cNvPr id="217" name="Google Shape;217;p32"/>
          <p:cNvGraphicFramePr/>
          <p:nvPr/>
        </p:nvGraphicFramePr>
        <p:xfrm>
          <a:off x="640080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{3D6AE665-1A58-4DFC-AA83-F0405B92F36B}</a:tableStyleId>
              </a:tblPr>
              <a:tblGrid>
                <a:gridCol w="572700"/>
                <a:gridCol w="2290800"/>
                <a:gridCol w="4810700"/>
                <a:gridCol w="3207150"/>
              </a:tblGrid>
              <a:tr h="33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Context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Impact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Loss of Core Assets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 Key Talent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Failing to defend and leverage existing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 assets and top talent during transition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Organizational momentum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loss &amp; pipeline collapse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Insufficient Global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Transfer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Proven winning plays from other markets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sufficiently localized to Korea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Growth ceiling &amp;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repeated inefficiencies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Right Person,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Right Build Failure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Recruiting misaligned talent during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aggressive team expansion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Resource waste &amp;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delayed market entry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8" name="Google Shape;218;p32"/>
          <p:cNvSpPr txBox="1"/>
          <p:nvPr/>
        </p:nvSpPr>
        <p:spPr>
          <a:xfrm>
            <a:off x="640080" y="4166470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Risk Mitigation — Phased Action Plan</a:t>
            </a:r>
            <a:endParaRPr/>
          </a:p>
        </p:txBody>
      </p:sp>
      <p:graphicFrame>
        <p:nvGraphicFramePr>
          <p:cNvPr id="219" name="Google Shape;219;p32"/>
          <p:cNvGraphicFramePr/>
          <p:nvPr/>
        </p:nvGraphicFramePr>
        <p:xfrm>
          <a:off x="640080" y="45322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{3D6AE665-1A58-4DFC-AA83-F0405B92F36B}</a:tableStyleId>
              </a:tblPr>
              <a:tblGrid>
                <a:gridCol w="1371600"/>
                <a:gridCol w="1097275"/>
                <a:gridCol w="8412475"/>
              </a:tblGrid>
              <a:tr h="28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Phase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Period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Mitigation Actions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Phase 1: Listen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Day 1–30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1:1 Listening Tour (all 20 members) → identify flight risks and core assets early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Shadow Week: observe Sales/AM in action without intervening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Deliver 1 Quick Win to build credibility through action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Phase 2: Align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Day 31–60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Build Competency Map + Flight Risk assessment → immediate retention conversations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Global → Local Playbook transfer pipeline (DACH, UK, Japan best practices)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Establish 3 weekly rituals (Mon Pipeline / Wed 1:1 / Fri Wins &amp; Learns)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Phase 3: Lead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Day 61–90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Declare 2026→2030 growth vision with concrete revenue targets ($42.2M → $88.7M)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Define Right Person criteria and begin first strategic hire (Senior AE)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Activate Delegation Framework: CM owns only Tier 1 accounts + HQ relations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/>
        </p:nvSpPr>
        <p:spPr>
          <a:xfrm>
            <a:off x="640080" y="228600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2E"/>
                </a:solidFill>
              </a:rPr>
              <a:t>7</a:t>
            </a:r>
            <a:r>
              <a:rPr b="1" i="0" lang="en-US" sz="2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. Integration &amp; Leadership Initiatives</a:t>
            </a:r>
            <a:endParaRPr/>
          </a:p>
        </p:txBody>
      </p:sp>
      <p:sp>
        <p:nvSpPr>
          <p:cNvPr id="225" name="Google Shape;225;p3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First 6 Months — Building Trust, Transferring Knowledge, Enabling Growth</a:t>
            </a:r>
            <a:endParaRPr/>
          </a:p>
        </p:txBody>
      </p:sp>
      <p:sp>
        <p:nvSpPr>
          <p:cNvPr id="226" name="Google Shape;226;p33"/>
          <p:cNvSpPr/>
          <p:nvPr/>
        </p:nvSpPr>
        <p:spPr>
          <a:xfrm>
            <a:off x="640080" y="114300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3"/>
          <p:cNvSpPr txBox="1"/>
          <p:nvPr/>
        </p:nvSpPr>
        <p:spPr>
          <a:xfrm>
            <a:off x="640080" y="14173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Talent Retention &amp; Leverage (Risk #1)</a:t>
            </a:r>
            <a:endParaRPr/>
          </a:p>
        </p:txBody>
      </p:sp>
      <p:sp>
        <p:nvSpPr>
          <p:cNvPr id="228" name="Google Shape;228;p33"/>
          <p:cNvSpPr txBox="1"/>
          <p:nvPr/>
        </p:nvSpPr>
        <p:spPr>
          <a:xfrm>
            <a:off x="640080" y="19202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Map every team member's core competencies and flight risk level by Day 60</a:t>
            </a:r>
            <a:endParaRPr/>
          </a:p>
        </p:txBody>
      </p:sp>
      <p:sp>
        <p:nvSpPr>
          <p:cNvPr id="229" name="Google Shape;229;p33"/>
          <p:cNvSpPr txBox="1"/>
          <p:nvPr/>
        </p:nvSpPr>
        <p:spPr>
          <a:xfrm>
            <a:off x="640080" y="24231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Immediate 1:1 career conversations for high-risk seniors — present clear growth paths</a:t>
            </a:r>
            <a:endParaRPr/>
          </a:p>
        </p:txBody>
      </p:sp>
      <p:sp>
        <p:nvSpPr>
          <p:cNvPr id="230" name="Google Shape;230;p33"/>
          <p:cNvSpPr txBox="1"/>
          <p:nvPr/>
        </p:nvSpPr>
        <p:spPr>
          <a:xfrm>
            <a:off x="640080" y="29260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Convert tacit knowledge (client histories, deal playbooks) into shared team assets</a:t>
            </a:r>
            <a:endParaRPr/>
          </a:p>
        </p:txBody>
      </p:sp>
      <p:sp>
        <p:nvSpPr>
          <p:cNvPr id="231" name="Google Shape;231;p33"/>
          <p:cNvSpPr txBox="1"/>
          <p:nvPr/>
        </p:nvSpPr>
        <p:spPr>
          <a:xfrm>
            <a:off x="640080" y="34290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Grant clear ownership and decision-making authority → "my role is growing here"</a:t>
            </a:r>
            <a:endParaRPr/>
          </a:p>
        </p:txBody>
      </p:sp>
      <p:sp>
        <p:nvSpPr>
          <p:cNvPr id="232" name="Google Shape;232;p33"/>
          <p:cNvSpPr txBox="1"/>
          <p:nvPr/>
        </p:nvSpPr>
        <p:spPr>
          <a:xfrm>
            <a:off x="4480560" y="14173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Global Knowledge Transfer (Risk #2)</a:t>
            </a:r>
            <a:endParaRPr/>
          </a:p>
        </p:txBody>
      </p:sp>
      <p:sp>
        <p:nvSpPr>
          <p:cNvPr id="233" name="Google Shape;233;p33"/>
          <p:cNvSpPr txBox="1"/>
          <p:nvPr/>
        </p:nvSpPr>
        <p:spPr>
          <a:xfrm>
            <a:off x="4480560" y="19202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Audit Top 3 winning plays from DACH, UK, France, Japan markets</a:t>
            </a:r>
            <a:endParaRPr/>
          </a:p>
        </p:txBody>
      </p:sp>
      <p:sp>
        <p:nvSpPr>
          <p:cNvPr id="234" name="Google Shape;234;p33"/>
          <p:cNvSpPr txBox="1"/>
          <p:nvPr/>
        </p:nvSpPr>
        <p:spPr>
          <a:xfrm>
            <a:off x="4480560" y="24231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Apply Korea Localization Filter — what works, what doesn't in agency-driven market</a:t>
            </a:r>
            <a:endParaRPr/>
          </a:p>
        </p:txBody>
      </p:sp>
      <p:sp>
        <p:nvSpPr>
          <p:cNvPr id="235" name="Google Shape;235;p33"/>
          <p:cNvSpPr txBox="1"/>
          <p:nvPr/>
        </p:nvSpPr>
        <p:spPr>
          <a:xfrm>
            <a:off x="4480560" y="29260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Launch monthly "Global → Local" sessions (bidirectional: Korea exports wins too)</a:t>
            </a:r>
            <a:endParaRPr/>
          </a:p>
        </p:txBody>
      </p:sp>
      <p:sp>
        <p:nvSpPr>
          <p:cNvPr id="236" name="Google Shape;236;p33"/>
          <p:cNvSpPr txBox="1"/>
          <p:nvPr/>
        </p:nvSpPr>
        <p:spPr>
          <a:xfrm>
            <a:off x="4480560" y="34290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Immediately apply Criteo win-back playbooks from Europe to Commerce Squad</a:t>
            </a:r>
            <a:endParaRPr/>
          </a:p>
        </p:txBody>
      </p:sp>
      <p:sp>
        <p:nvSpPr>
          <p:cNvPr id="237" name="Google Shape;237;p33"/>
          <p:cNvSpPr txBox="1"/>
          <p:nvPr/>
        </p:nvSpPr>
        <p:spPr>
          <a:xfrm>
            <a:off x="8321040" y="14173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Right Person, Right Build (Risk #3)</a:t>
            </a:r>
            <a:endParaRPr/>
          </a:p>
        </p:txBody>
      </p:sp>
      <p:sp>
        <p:nvSpPr>
          <p:cNvPr id="238" name="Google Shape;238;p33"/>
          <p:cNvSpPr txBox="1"/>
          <p:nvPr/>
        </p:nvSpPr>
        <p:spPr>
          <a:xfrm>
            <a:off x="8321040" y="19202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Use 60-day weekly cadence to observe org strengths and gaps before any hiring</a:t>
            </a:r>
            <a:endParaRPr/>
          </a:p>
        </p:txBody>
      </p:sp>
      <p:sp>
        <p:nvSpPr>
          <p:cNvPr id="239" name="Google Shape;239;p33"/>
          <p:cNvSpPr txBox="1"/>
          <p:nvPr/>
        </p:nvSpPr>
        <p:spPr>
          <a:xfrm>
            <a:off x="8321040" y="24231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Define Right Person criteria: ① DL/programmatic fluency ② A/B test sales ③ culture fit</a:t>
            </a:r>
            <a:endParaRPr/>
          </a:p>
        </p:txBody>
      </p:sp>
      <p:sp>
        <p:nvSpPr>
          <p:cNvPr id="240" name="Google Shape;240;p33"/>
          <p:cNvSpPr txBox="1"/>
          <p:nvPr/>
        </p:nvSpPr>
        <p:spPr>
          <a:xfrm>
            <a:off x="8321040" y="292608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First hire: 1 Senior AE with mega-account closing experience ($70K+/mo deals)</a:t>
            </a:r>
            <a:endParaRPr/>
          </a:p>
        </p:txBody>
      </p:sp>
      <p:sp>
        <p:nvSpPr>
          <p:cNvPr id="241" name="Google Shape;241;p33"/>
          <p:cNvSpPr txBox="1"/>
          <p:nvPr/>
        </p:nvSpPr>
        <p:spPr>
          <a:xfrm>
            <a:off x="8321040" y="342900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Principle: "Fill the seat correctly, not quickly" — 1 wrong hire delays growth 6 months</a:t>
            </a:r>
            <a:endParaRPr/>
          </a:p>
        </p:txBody>
      </p:sp>
      <p:sp>
        <p:nvSpPr>
          <p:cNvPr id="242" name="Google Shape;242;p33"/>
          <p:cNvSpPr txBox="1"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Weekly Operating Cadence (3 Rituals Only)</a:t>
            </a:r>
            <a:endParaRPr/>
          </a:p>
        </p:txBody>
      </p:sp>
      <p:graphicFrame>
        <p:nvGraphicFramePr>
          <p:cNvPr id="243" name="Google Shape;243;p33"/>
          <p:cNvGraphicFramePr/>
          <p:nvPr/>
        </p:nvGraphicFramePr>
        <p:xfrm>
          <a:off x="640080" y="4480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{3D6AE665-1A58-4DFC-AA83-F0405B92F36B}</a:tableStyleId>
              </a:tblPr>
              <a:tblGrid>
                <a:gridCol w="640075"/>
                <a:gridCol w="1645925"/>
                <a:gridCol w="1828800"/>
                <a:gridCol w="1097275"/>
                <a:gridCol w="56692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Meeting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Participants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Purpose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Pipeline Review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Sales + AM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 min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Pipeline status + competency gap observation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1:1 Coaching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Individual (rotating)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 min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Deal coaching + growth direction (behavior-based)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Wins &amp; Learns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Entire team (voluntary)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min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success + 1 failure lesson → learning culture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p33"/>
          <p:cNvSpPr txBox="1"/>
          <p:nvPr/>
        </p:nvSpPr>
        <p:spPr>
          <a:xfrm>
            <a:off x="640080" y="6035040"/>
            <a:ext cx="1088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Core Principle:  "Don't manage — coach. Don't dictate — bridge. Don't assume — listen."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/>
        </p:nvSpPr>
        <p:spPr>
          <a:xfrm>
            <a:off x="640080" y="228600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2E"/>
                </a:solidFill>
              </a:rPr>
              <a:t>8</a:t>
            </a:r>
            <a:r>
              <a:rPr b="1" i="0" lang="en-US" sz="2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. Structural Evolution</a:t>
            </a:r>
            <a:endParaRPr/>
          </a:p>
        </p:txBody>
      </p:sp>
      <p:sp>
        <p:nvSpPr>
          <p:cNvPr id="250" name="Google Shape;250;p34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Short-Term Team Structure (6–12 Months) — Vertical Squads by Industry</a:t>
            </a:r>
            <a:endParaRPr/>
          </a:p>
        </p:txBody>
      </p:sp>
      <p:sp>
        <p:nvSpPr>
          <p:cNvPr id="251" name="Google Shape;251;p34"/>
          <p:cNvSpPr/>
          <p:nvPr/>
        </p:nvSpPr>
        <p:spPr>
          <a:xfrm>
            <a:off x="640080" y="114300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4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Vertical Squad Organization (Day 91–180)</a:t>
            </a:r>
            <a:endParaRPr/>
          </a:p>
        </p:txBody>
      </p:sp>
      <p:sp>
        <p:nvSpPr>
          <p:cNvPr id="253" name="Google Shape;253;p34"/>
          <p:cNvSpPr txBox="1"/>
          <p:nvPr/>
        </p:nvSpPr>
        <p:spPr>
          <a:xfrm>
            <a:off x="640080" y="17830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Reorganize existing 20-person team by redefining roles to maximize core talent strengths — not a large-scale overhaul.</a:t>
            </a:r>
            <a:endParaRPr/>
          </a:p>
        </p:txBody>
      </p:sp>
      <p:graphicFrame>
        <p:nvGraphicFramePr>
          <p:cNvPr id="254" name="Google Shape;254;p34"/>
          <p:cNvGraphicFramePr/>
          <p:nvPr/>
        </p:nvGraphicFramePr>
        <p:xfrm>
          <a:off x="640080" y="2240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{3D6AE665-1A58-4DFC-AA83-F0405B92F36B}</a:tableStyleId>
              </a:tblPr>
              <a:tblGrid>
                <a:gridCol w="1188725"/>
                <a:gridCol w="1188725"/>
                <a:gridCol w="1645925"/>
                <a:gridCol w="1645925"/>
                <a:gridCol w="5212075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Squad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Composition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 Accounts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 Mission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Market Rationale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🛒 Commerce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Squad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Sr. Sales 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 2, TAM 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Coupang, Musinsa,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Olive Young, SSG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Onboard 2 new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Tier 1 clients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E-Commerce = $3.2B–$3.5B (45–50%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 digital ad spend). #1 Criteo win-back path.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🎮 Gaming &amp;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 Squad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Sales 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 1, TAM 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Nexon, Krafton,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Netmarble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Tier 1 A/B test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success → conversion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Gaming = $1.1B–$1.4B budget.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 LTV to beat Moloco/AppLovin.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🌏 K-Brand &amp;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Growth Squad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Sales 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 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APR, Samyang,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Yanolja, Toss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Build 2 global D2C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pipelines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Hybrid K-Brand = $1.4B–$1.8B.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Global CBEC = explosive growth driver.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5" name="Google Shape;255;p34"/>
          <p:cNvSpPr txBox="1"/>
          <p:nvPr/>
        </p:nvSpPr>
        <p:spPr>
          <a:xfrm>
            <a:off x="640080" y="5212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Lean Hiring Roadmap</a:t>
            </a:r>
            <a:endParaRPr/>
          </a:p>
        </p:txBody>
      </p:sp>
      <p:graphicFrame>
        <p:nvGraphicFramePr>
          <p:cNvPr id="256" name="Google Shape;256;p34"/>
          <p:cNvGraphicFramePr/>
          <p:nvPr/>
        </p:nvGraphicFramePr>
        <p:xfrm>
          <a:off x="640080" y="5577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{3D6AE665-1A58-4DFC-AA83-F0405B92F36B}</a:tableStyleId>
              </a:tblPr>
              <a:tblGrid>
                <a:gridCol w="1645925"/>
                <a:gridCol w="1097275"/>
                <a:gridCol w="3200400"/>
                <a:gridCol w="4937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Period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Headcount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Hire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Purpose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 (Now → 6)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→ 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Senior AE (mega-account closer)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Breakthrough for H2 44 new launches, Tier 1 deals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2027–28 (8 → 10)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AEs + 2 Campaign Managers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Match 25+ launches/quarter pace, K-Brand D2C dedicated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2029–30 (11 → 12)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Data Scientist + 1 Sr. AE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 495 active campaign operating 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/>
        </p:nvSpPr>
        <p:spPr>
          <a:xfrm>
            <a:off x="640080" y="228600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2E"/>
                </a:solidFill>
              </a:rPr>
              <a:t>9</a:t>
            </a:r>
            <a:r>
              <a:rPr b="1" i="0" lang="en-US" sz="2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. Team Collaboration</a:t>
            </a:r>
            <a:endParaRPr/>
          </a:p>
        </p:txBody>
      </p:sp>
      <p:sp>
        <p:nvSpPr>
          <p:cNvPr id="262" name="Google Shape;262;p35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Sales &amp; AM Alignment, Motivation, and Driving Results</a:t>
            </a:r>
            <a:endParaRPr/>
          </a:p>
        </p:txBody>
      </p:sp>
      <p:sp>
        <p:nvSpPr>
          <p:cNvPr id="263" name="Google Shape;263;p35"/>
          <p:cNvSpPr/>
          <p:nvPr/>
        </p:nvSpPr>
        <p:spPr>
          <a:xfrm>
            <a:off x="640080" y="114300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2 Collaboration Rituals (Simple = Executable)</a:t>
            </a:r>
            <a:endParaRPr/>
          </a:p>
        </p:txBody>
      </p:sp>
      <p:sp>
        <p:nvSpPr>
          <p:cNvPr id="265" name="Google Shape;265;p35"/>
          <p:cNvSpPr txBox="1"/>
          <p:nvPr/>
        </p:nvSpPr>
        <p:spPr>
          <a:xfrm>
            <a:off x="640080" y="18288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① Pre-flight Handoff</a:t>
            </a:r>
            <a:endParaRPr/>
          </a:p>
        </p:txBody>
      </p:sp>
      <p:sp>
        <p:nvSpPr>
          <p:cNvPr id="266" name="Google Shape;266;p35"/>
          <p:cNvSpPr txBox="1"/>
          <p:nvPr/>
        </p:nvSpPr>
        <p:spPr>
          <a:xfrm>
            <a:off x="640080" y="22860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Sales prepares a 1-page Campaign Brief before every AM handoff</a:t>
            </a:r>
            <a:endParaRPr/>
          </a:p>
        </p:txBody>
      </p:sp>
      <p:sp>
        <p:nvSpPr>
          <p:cNvPr id="267" name="Google Shape;267;p35"/>
          <p:cNvSpPr txBox="1"/>
          <p:nvPr/>
        </p:nvSpPr>
        <p:spPr>
          <a:xfrm>
            <a:off x="640080" y="26974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Includes: client KPIs, budget/terms, competitive landscape, decision-maker map</a:t>
            </a:r>
            <a:endParaRPr/>
          </a:p>
        </p:txBody>
      </p:sp>
      <p:sp>
        <p:nvSpPr>
          <p:cNvPr id="268" name="Google Shape;268;p35"/>
          <p:cNvSpPr txBox="1"/>
          <p:nvPr/>
        </p:nvSpPr>
        <p:spPr>
          <a:xfrm>
            <a:off x="640080" y="31089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Korea-specific: must specify whether final decision-maker is advertiser or agency</a:t>
            </a:r>
            <a:endParaRPr/>
          </a:p>
        </p:txBody>
      </p:sp>
      <p:sp>
        <p:nvSpPr>
          <p:cNvPr id="269" name="Google Shape;269;p35"/>
          <p:cNvSpPr txBox="1"/>
          <p:nvPr/>
        </p:nvSpPr>
        <p:spPr>
          <a:xfrm>
            <a:off x="640080" y="35204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This single line dramatically improves AM communication efficiency</a:t>
            </a:r>
            <a:endParaRPr/>
          </a:p>
        </p:txBody>
      </p:sp>
      <p:sp>
        <p:nvSpPr>
          <p:cNvPr id="270" name="Google Shape;270;p35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② Monthly Win/Loss Review</a:t>
            </a:r>
            <a:endParaRPr/>
          </a:p>
        </p:txBody>
      </p:sp>
      <p:sp>
        <p:nvSpPr>
          <p:cNvPr id="271" name="Google Shape;271;p35"/>
          <p:cNvSpPr txBox="1"/>
          <p:nvPr/>
        </p:nvSpPr>
        <p:spPr>
          <a:xfrm>
            <a:off x="6309360" y="22860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30 min/month. Sales + AM jointly analyze 1 won deal and 1 lost deal</a:t>
            </a:r>
            <a:endParaRPr/>
          </a:p>
        </p:txBody>
      </p:sp>
      <p:sp>
        <p:nvSpPr>
          <p:cNvPr id="272" name="Google Shape;272;p35"/>
          <p:cNvSpPr txBox="1"/>
          <p:nvPr/>
        </p:nvSpPr>
        <p:spPr>
          <a:xfrm>
            <a:off x="6309360" y="26974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Rule: No blame. Only discuss "how can we win next time?"</a:t>
            </a:r>
            <a:endParaRPr/>
          </a:p>
        </p:txBody>
      </p:sp>
      <p:sp>
        <p:nvSpPr>
          <p:cNvPr id="273" name="Google Shape;273;p35"/>
          <p:cNvSpPr txBox="1"/>
          <p:nvPr/>
        </p:nvSpPr>
        <p:spPr>
          <a:xfrm>
            <a:off x="6309360" y="31089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CM shares own failure first → builds psychological safety</a:t>
            </a:r>
            <a:endParaRPr/>
          </a:p>
        </p:txBody>
      </p:sp>
      <p:sp>
        <p:nvSpPr>
          <p:cNvPr id="274" name="Google Shape;274;p35"/>
          <p:cNvSpPr txBox="1"/>
          <p:nvPr/>
        </p:nvSpPr>
        <p:spPr>
          <a:xfrm>
            <a:off x="6309360" y="35204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Korean culture: 'sharing failures' conflicts with face-saving → CM leads by example</a:t>
            </a:r>
            <a:endParaRPr/>
          </a:p>
        </p:txBody>
      </p:sp>
      <p:sp>
        <p:nvSpPr>
          <p:cNvPr id="275" name="Google Shape;275;p35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Motivation System</a:t>
            </a:r>
            <a:endParaRPr/>
          </a:p>
        </p:txBody>
      </p:sp>
      <p:sp>
        <p:nvSpPr>
          <p:cNvPr id="276" name="Google Shape;276;p35"/>
          <p:cNvSpPr txBox="1"/>
          <p:nvPr/>
        </p:nvSpPr>
        <p:spPr>
          <a:xfrm>
            <a:off x="640080" y="470916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💰  Monetary</a:t>
            </a:r>
            <a:endParaRPr/>
          </a:p>
        </p:txBody>
      </p:sp>
      <p:sp>
        <p:nvSpPr>
          <p:cNvPr id="277" name="Google Shape;277;p35"/>
          <p:cNvSpPr txBox="1"/>
          <p:nvPr/>
        </p:nvSpPr>
        <p:spPr>
          <a:xfrm>
            <a:off x="640080" y="50749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Team-wide bonus on quarterly target achievement (separate from individual commission)</a:t>
            </a:r>
            <a:endParaRPr/>
          </a:p>
        </p:txBody>
      </p:sp>
      <p:sp>
        <p:nvSpPr>
          <p:cNvPr id="278" name="Google Shape;278;p35"/>
          <p:cNvSpPr txBox="1"/>
          <p:nvPr/>
        </p:nvSpPr>
        <p:spPr>
          <a:xfrm>
            <a:off x="640080" y="5458968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Team-level rewards prevent silos and reinforce collaboration culture</a:t>
            </a:r>
            <a:endParaRPr/>
          </a:p>
        </p:txBody>
      </p:sp>
      <p:sp>
        <p:nvSpPr>
          <p:cNvPr id="279" name="Google Shape;279;p35"/>
          <p:cNvSpPr txBox="1"/>
          <p:nvPr/>
        </p:nvSpPr>
        <p:spPr>
          <a:xfrm>
            <a:off x="6309360" y="470916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🌟  Non-Monetary</a:t>
            </a:r>
            <a:endParaRPr/>
          </a:p>
        </p:txBody>
      </p:sp>
      <p:sp>
        <p:nvSpPr>
          <p:cNvPr id="280" name="Google Shape;280;p35"/>
          <p:cNvSpPr txBox="1"/>
          <p:nvPr/>
        </p:nvSpPr>
        <p:spPr>
          <a:xfrm>
            <a:off x="6309360" y="50749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Quarterly Top Performer: Warsaw HQ R&amp;D Center visit + global workshop participation</a:t>
            </a:r>
            <a:endParaRPr/>
          </a:p>
        </p:txBody>
      </p:sp>
      <p:sp>
        <p:nvSpPr>
          <p:cNvPr id="281" name="Google Shape;281;p35"/>
          <p:cNvSpPr txBox="1"/>
          <p:nvPr/>
        </p:nvSpPr>
        <p:spPr>
          <a:xfrm>
            <a:off x="6309360" y="5458968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Aligned with RTB House values: Kindness, Curiosity, Excellence, Ownership</a:t>
            </a:r>
            <a:endParaRPr/>
          </a:p>
        </p:txBody>
      </p:sp>
      <p:sp>
        <p:nvSpPr>
          <p:cNvPr id="282" name="Google Shape;282;p35"/>
          <p:cNvSpPr txBox="1"/>
          <p:nvPr/>
        </p:nvSpPr>
        <p:spPr>
          <a:xfrm>
            <a:off x="6309360" y="5843016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•  Non-monetary growth opportunities are the strongest retention lever for Korean talent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/>
        </p:nvSpPr>
        <p:spPr>
          <a:xfrm>
            <a:off x="640080" y="228600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2E"/>
                </a:solidFill>
              </a:rPr>
              <a:t>10</a:t>
            </a:r>
            <a:r>
              <a:rPr b="1" i="0" lang="en-US" sz="2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. Performance Measurement</a:t>
            </a:r>
            <a:endParaRPr/>
          </a:p>
        </p:txBody>
      </p:sp>
      <p:sp>
        <p:nvSpPr>
          <p:cNvPr id="288" name="Google Shape;288;p36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KPIs, OKRs &amp; Revenue Targets — 70% Quantitative + 30% Qualitative</a:t>
            </a:r>
            <a:endParaRPr/>
          </a:p>
        </p:txBody>
      </p:sp>
      <p:sp>
        <p:nvSpPr>
          <p:cNvPr id="289" name="Google Shape;289;p36"/>
          <p:cNvSpPr/>
          <p:nvPr/>
        </p:nvSpPr>
        <p:spPr>
          <a:xfrm>
            <a:off x="640080" y="1143000"/>
            <a:ext cx="109728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6"/>
          <p:cNvSpPr txBox="1"/>
          <p:nvPr/>
        </p:nvSpPr>
        <p:spPr>
          <a:xfrm>
            <a:off x="640080" y="1417320"/>
            <a:ext cx="45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A. Sales</a:t>
            </a:r>
            <a:endParaRPr/>
          </a:p>
        </p:txBody>
      </p:sp>
      <p:graphicFrame>
        <p:nvGraphicFramePr>
          <p:cNvPr id="291" name="Google Shape;291;p36"/>
          <p:cNvGraphicFramePr/>
          <p:nvPr/>
        </p:nvGraphicFramePr>
        <p:xfrm>
          <a:off x="640080" y="1737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{3D6AE665-1A58-4DFC-AA83-F0405B92F36B}</a:tableStyleId>
              </a:tblPr>
              <a:tblGrid>
                <a:gridCol w="2951975"/>
                <a:gridCol w="1114550"/>
                <a:gridCol w="2088275"/>
              </a:tblGrid>
              <a:tr h="2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Frequency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Year 1 Target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</a:tr>
              <a:tr h="2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Bookings (MRR)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$150K/mo → $800K by Q4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Campaign Launches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Quarterly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10+ quarterly (min $7K/m)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</a:tr>
              <a:tr h="2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Pipeline Coverage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3x quarterly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O: "#1 DL Performance" in Korea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1A1A2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1A1A2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</a:tr>
              <a:tr h="2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KR1: C-level DL seminar 1x/quarter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Quarterly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1A1A2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KR2: 2+ Korean case studies published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Semi-annual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1A1A2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92" name="Google Shape;292;p36"/>
          <p:cNvSpPr txBox="1"/>
          <p:nvPr/>
        </p:nvSpPr>
        <p:spPr>
          <a:xfrm>
            <a:off x="640080" y="3749039"/>
            <a:ext cx="45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B. Account Management</a:t>
            </a:r>
            <a:endParaRPr/>
          </a:p>
        </p:txBody>
      </p:sp>
      <p:graphicFrame>
        <p:nvGraphicFramePr>
          <p:cNvPr id="293" name="Google Shape;293;p36"/>
          <p:cNvGraphicFramePr/>
          <p:nvPr/>
        </p:nvGraphicFramePr>
        <p:xfrm>
          <a:off x="640080" y="4069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{3D6AE665-1A58-4DFC-AA83-F0405B92F36B}</a:tableStyleId>
              </a:tblPr>
              <a:tblGrid>
                <a:gridCol w="2951975"/>
                <a:gridCol w="1188750"/>
                <a:gridCol w="1741950"/>
              </a:tblGrid>
              <a:tr h="2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Frequency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Year 1 Target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</a:tr>
              <a:tr h="2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Scale-up Rate (test → regular)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Quarterly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0%+ conversion 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Campaign Churn 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Below 5% monthly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</a:tr>
              <a:tr h="2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Time-to-Value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ampaign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ROAS in 21 days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O: Become client's strategic partner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1A1A2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1A1A2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</a:tr>
              <a:tr h="2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KR1: 100% QBR completion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Quarterly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1A1A2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6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KR2: </a:t>
                      </a:r>
                      <a:r>
                        <a:rPr lang="en-US" sz="1200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In-depth</a:t>
                      </a: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training 2x/yr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Semi-annual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rgbClr val="1A1A2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36"/>
          <p:cNvSpPr txBox="1"/>
          <p:nvPr/>
        </p:nvSpPr>
        <p:spPr>
          <a:xfrm>
            <a:off x="7097280" y="3672860"/>
            <a:ext cx="45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C. Country Manager</a:t>
            </a:r>
            <a:endParaRPr/>
          </a:p>
        </p:txBody>
      </p:sp>
      <p:graphicFrame>
        <p:nvGraphicFramePr>
          <p:cNvPr id="295" name="Google Shape;295;p36"/>
          <p:cNvGraphicFramePr/>
          <p:nvPr/>
        </p:nvGraphicFramePr>
        <p:xfrm>
          <a:off x="7192975" y="40690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{3D6AE665-1A58-4DFC-AA83-F0405B92F36B}</a:tableStyleId>
              </a:tblPr>
              <a:tblGrid>
                <a:gridCol w="1904700"/>
                <a:gridCol w="2850175"/>
              </a:tblGrid>
              <a:tr h="13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Year 1 Target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63EB"/>
                    </a:solidFill>
                  </a:tcPr>
                </a:tc>
              </a:tr>
              <a:tr h="13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Revenue Growth (YoY)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r>
                        <a:rPr lang="en-US" sz="1200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(foundation year)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13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Attrition 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Below 10% (vs industry avg 20%+)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</a:tr>
              <a:tr h="13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Vertical Expansion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First revenue in 2+ new verticals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13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r>
                        <a:rPr lang="en-US" sz="1200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Survey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1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8/10 (semi-annual anonymous survey)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